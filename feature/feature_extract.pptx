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5" r:id="rId1"/>
  </p:sldMasterIdLst>
  <p:notesMasterIdLst>
    <p:notesMasterId r:id="rId35"/>
  </p:notesMasterIdLst>
  <p:handoutMasterIdLst>
    <p:handoutMasterId r:id="rId36"/>
  </p:handoutMasterIdLst>
  <p:sldIdLst>
    <p:sldId id="264" r:id="rId2"/>
    <p:sldId id="440" r:id="rId3"/>
    <p:sldId id="422" r:id="rId4"/>
    <p:sldId id="423" r:id="rId5"/>
    <p:sldId id="438" r:id="rId6"/>
    <p:sldId id="439" r:id="rId7"/>
    <p:sldId id="424" r:id="rId8"/>
    <p:sldId id="425" r:id="rId9"/>
    <p:sldId id="426" r:id="rId10"/>
    <p:sldId id="427" r:id="rId11"/>
    <p:sldId id="428" r:id="rId12"/>
    <p:sldId id="257" r:id="rId13"/>
    <p:sldId id="461" r:id="rId14"/>
    <p:sldId id="258" r:id="rId15"/>
    <p:sldId id="259" r:id="rId16"/>
    <p:sldId id="260" r:id="rId17"/>
    <p:sldId id="436" r:id="rId18"/>
    <p:sldId id="261" r:id="rId19"/>
    <p:sldId id="262" r:id="rId20"/>
    <p:sldId id="263" r:id="rId21"/>
    <p:sldId id="460" r:id="rId22"/>
    <p:sldId id="437" r:id="rId23"/>
    <p:sldId id="429" r:id="rId24"/>
    <p:sldId id="430" r:id="rId25"/>
    <p:sldId id="431" r:id="rId26"/>
    <p:sldId id="457" r:id="rId27"/>
    <p:sldId id="458" r:id="rId28"/>
    <p:sldId id="459" r:id="rId29"/>
    <p:sldId id="432" r:id="rId30"/>
    <p:sldId id="434" r:id="rId31"/>
    <p:sldId id="435" r:id="rId32"/>
    <p:sldId id="266" r:id="rId33"/>
    <p:sldId id="421" r:id="rId34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66FF33"/>
    <a:srgbClr val="3333FF"/>
    <a:srgbClr val="990033"/>
    <a:srgbClr val="FF6600"/>
    <a:srgbClr val="FF0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867" autoAdjust="0"/>
  </p:normalViewPr>
  <p:slideViewPr>
    <p:cSldViewPr>
      <p:cViewPr varScale="1">
        <p:scale>
          <a:sx n="104" d="100"/>
          <a:sy n="104" d="100"/>
        </p:scale>
        <p:origin x="83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1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702" y="-84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8FCF8EB-65B5-428B-BE4F-9A7D2A948A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3DC4865-92AD-414E-9D86-4026B81DC7C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9028" name="Rectangle 4">
            <a:extLst>
              <a:ext uri="{FF2B5EF4-FFF2-40B4-BE49-F238E27FC236}">
                <a16:creationId xmlns:a16="http://schemas.microsoft.com/office/drawing/2014/main" id="{55688414-AFAB-43E4-965F-C79984F157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Ch. </a:t>
            </a:r>
            <a:r>
              <a:rPr lang="en-US" err="1"/>
              <a:t>Eick</a:t>
            </a:r>
            <a:r>
              <a:rPr lang="en-US"/>
              <a:t>: COSC 6342: ML</a:t>
            </a:r>
            <a:endParaRPr lang="tr-TR"/>
          </a:p>
        </p:txBody>
      </p:sp>
      <p:sp>
        <p:nvSpPr>
          <p:cNvPr id="129029" name="Rectangle 5">
            <a:extLst>
              <a:ext uri="{FF2B5EF4-FFF2-40B4-BE49-F238E27FC236}">
                <a16:creationId xmlns:a16="http://schemas.microsoft.com/office/drawing/2014/main" id="{A1040CDB-18F6-4324-A914-20CD136E76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AE9236FE-815C-4B2A-B170-8A86AAC60056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450874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160C7EBC-1C14-4832-A0D9-2B27EFD1FF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EF2CF622-4D59-4161-90A0-11CAC8E807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F1B7557F-573C-41FD-AF9C-F179BABC597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1138" y="531813"/>
            <a:ext cx="47307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098C7FE9-272E-4D95-82E3-137BFA8BAA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19ACF789-D002-4EAA-84FE-99D8883FA7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E299EB21-70CA-4F92-B930-993B7E6ADD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EA81DDC4-6406-437C-89B7-41EDEE3A306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26959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6ADEED-E28B-4618-9875-24EFD9CB3BB5}" type="datetime1">
              <a:rPr lang="en-US" smtClean="0"/>
              <a:t>3/30/2026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FD6C-FF80-4CF0-AABB-2AC6BFC614FC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94993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3032F-4254-496B-8D72-B5B3262A225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DE764-B8A9-453E-9072-BCEEF062CD7B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76302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345C-9289-43D8-81C9-097AB5A6E110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67183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AC71-B6D9-47B8-9D79-1DAD34756BD9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75538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4861-CB01-44C3-BB95-65598D2A5D4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9326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2BEB-35BE-4D81-8E38-D02F833D718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77281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5C257-3437-47D7-A143-4E010804A85D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2062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88BF-5C4C-4442-9BC2-F7BCBD293FE2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31984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3006-7660-479E-8D81-4F6AFD52C157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352851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B550F-E48A-4CA9-BE86-F7D57BBF6BA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9973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27226-07D2-4061-BF55-F36EAE48F7EA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28369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994ED-7F9F-4D04-8D34-1187F60662EC}" type="datetime1">
              <a:rPr lang="en-US" smtClean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Alpydin &amp; Ch. Eick: ML Topic1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5E2C4A-EC6E-40E8-9145-34703132768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22334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elitedatascience.com/machine-learning-algorithms#clustering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7B1459D-AD09-4C20-8B5F-E7D23FF796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1424" y="1049860"/>
            <a:ext cx="10585176" cy="4758280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b="1" dirty="0"/>
              <a:t>Feature Engineering and Preprocessing</a:t>
            </a:r>
            <a:br>
              <a:rPr lang="en-US" altLang="en-US" sz="2200" b="1" dirty="0"/>
            </a:br>
            <a:br>
              <a:rPr lang="en-US" altLang="en-US" sz="2400" dirty="0">
                <a:latin typeface="+mn-lt"/>
              </a:rPr>
            </a:br>
            <a:r>
              <a:rPr lang="en-US" altLang="en-US" sz="2400" b="1" dirty="0">
                <a:latin typeface="+mn-lt"/>
              </a:rPr>
              <a:t>Dr</a:t>
            </a:r>
            <a:r>
              <a:rPr lang="en-US" altLang="en-US" sz="2400" dirty="0">
                <a:latin typeface="+mn-lt"/>
              </a:rPr>
              <a:t>. </a:t>
            </a:r>
            <a:r>
              <a:rPr lang="en-US" altLang="en-US" sz="2400" b="1" dirty="0">
                <a:latin typeface="+mn-lt"/>
              </a:rPr>
              <a:t>Shailesh S</a:t>
            </a:r>
            <a:br>
              <a:rPr lang="en-US" altLang="en-US" sz="2400" b="1" dirty="0">
                <a:latin typeface="+mn-lt"/>
              </a:rPr>
            </a:br>
            <a:br>
              <a:rPr lang="en-US" altLang="en-US" sz="2400" b="1" dirty="0">
                <a:latin typeface="+mn-lt"/>
              </a:rPr>
            </a:br>
            <a:br>
              <a:rPr lang="en-US" altLang="en-US" sz="2400" b="1" dirty="0">
                <a:latin typeface="+mn-lt"/>
              </a:rPr>
            </a:br>
            <a:br>
              <a:rPr lang="en-US" altLang="en-US" sz="2400" b="1" dirty="0">
                <a:latin typeface="+mn-lt"/>
              </a:rPr>
            </a:br>
            <a:br>
              <a:rPr lang="en-US" altLang="en-US" sz="2400" b="1" dirty="0">
                <a:latin typeface="+mn-lt"/>
              </a:rPr>
            </a:br>
            <a:r>
              <a:rPr lang="en-US" altLang="en-US" sz="2400" b="1" dirty="0">
                <a:latin typeface="+mn-lt"/>
              </a:rPr>
              <a:t>shaileshsivan@gmail.com</a:t>
            </a:r>
            <a:endParaRPr lang="tr-TR" altLang="en-US" sz="2400" b="1" dirty="0">
              <a:latin typeface="+mn-lt"/>
            </a:endParaRPr>
          </a:p>
        </p:txBody>
      </p:sp>
      <p:pic>
        <p:nvPicPr>
          <p:cNvPr id="6148" name="Picture 4" descr="https://www.prisma-informatik.de/newsroom/wp-content/uploads/2017/05/NAV07_17_Machine_Learning.jpg">
            <a:extLst>
              <a:ext uri="{FF2B5EF4-FFF2-40B4-BE49-F238E27FC236}">
                <a16:creationId xmlns:a16="http://schemas.microsoft.com/office/drawing/2014/main" id="{0F44E557-C9D4-44F9-B2E4-6FD7EA43D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952" y="116632"/>
            <a:ext cx="1578424" cy="157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F16E-81E8-49A1-BE92-8B84FCC4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Overview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4D22-F338-402C-B29E-818A380F4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0" y="1916832"/>
            <a:ext cx="7543801" cy="40233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Machine Learning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Dimensionality Reduction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Components of Dimensionality Reduction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Methods of Dimensionality Reduction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Feature Reduction Iris Dataset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Preprocessing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76745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F16E-81E8-49A1-BE92-8B84FCC4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286605"/>
            <a:ext cx="8424936" cy="1450757"/>
          </a:xfrm>
        </p:spPr>
        <p:txBody>
          <a:bodyPr>
            <a:normAutofit/>
          </a:bodyPr>
          <a:lstStyle/>
          <a:p>
            <a:r>
              <a:rPr lang="en-IN" sz="4000" dirty="0"/>
              <a:t>What Does Machine Learning do?</a:t>
            </a:r>
            <a:endParaRPr lang="en-IN" sz="4000" dirty="0">
              <a:latin typeface="Lucida Console" panose="020B06090405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4D22-F338-402C-B29E-818A380F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Lucida Console" panose="020B0609040504020204" pitchFamily="49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Lucida Console" panose="020B0609040504020204" pitchFamily="49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Lucida Console" panose="020B0609040504020204" pitchFamily="49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Lucida Console" panose="020B06090405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80BE4-80CB-49F2-8C3E-F0A6C8FF5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747" y="2123230"/>
            <a:ext cx="78962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1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F16E-81E8-49A1-BE92-8B84FCC4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286605"/>
            <a:ext cx="8424936" cy="1450757"/>
          </a:xfrm>
        </p:spPr>
        <p:txBody>
          <a:bodyPr>
            <a:normAutofit/>
          </a:bodyPr>
          <a:lstStyle/>
          <a:p>
            <a:r>
              <a:rPr lang="en-US" sz="4000" dirty="0"/>
              <a:t>Some Facts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4D22-F338-402C-B29E-818A380F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FC2CE-7DAC-4137-BAAD-16E8033E198F}"/>
              </a:ext>
            </a:extLst>
          </p:cNvPr>
          <p:cNvSpPr txBox="1"/>
          <p:nvPr/>
        </p:nvSpPr>
        <p:spPr>
          <a:xfrm>
            <a:off x="2245591" y="1845734"/>
            <a:ext cx="759945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+mj-lt"/>
              </a:rPr>
              <a:t>Expectation : </a:t>
            </a: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We have good enough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Do focus on designing better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r>
              <a:rPr lang="en-US" sz="2400" dirty="0">
                <a:solidFill>
                  <a:srgbClr val="C00000"/>
                </a:solidFill>
                <a:latin typeface="+mj-lt"/>
              </a:rPr>
              <a:t>Reality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We have large amount of data but not </a:t>
            </a:r>
            <a:r>
              <a:rPr lang="en-US" sz="2400" i="1" dirty="0">
                <a:latin typeface="+mj-lt"/>
              </a:rPr>
              <a:t>good enough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How to transform your data into learning compactable ?</a:t>
            </a:r>
            <a:endParaRPr lang="en-US" sz="2400" i="1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230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F16E-81E8-49A1-BE92-8B84FCC4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286605"/>
            <a:ext cx="8424936" cy="1450757"/>
          </a:xfrm>
        </p:spPr>
        <p:txBody>
          <a:bodyPr>
            <a:normAutofit/>
          </a:bodyPr>
          <a:lstStyle/>
          <a:p>
            <a:r>
              <a:rPr lang="en-US" sz="4000" dirty="0"/>
              <a:t>What is a Feature in ML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4D22-F338-402C-B29E-818A380F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FC2CE-7DAC-4137-BAAD-16E8033E198F}"/>
              </a:ext>
            </a:extLst>
          </p:cNvPr>
          <p:cNvSpPr txBox="1"/>
          <p:nvPr/>
        </p:nvSpPr>
        <p:spPr>
          <a:xfrm>
            <a:off x="1847528" y="1988840"/>
            <a:ext cx="92170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A </a:t>
            </a:r>
            <a:r>
              <a:rPr lang="en-US" b="1" dirty="0">
                <a:latin typeface="+mj-lt"/>
              </a:rPr>
              <a:t>feature</a:t>
            </a:r>
            <a:r>
              <a:rPr lang="en-US" dirty="0">
                <a:latin typeface="+mj-lt"/>
              </a:rPr>
              <a:t> is a measurable property of the object you’re trying to analyze. In datasets, features appear as columns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Feature engineering </a:t>
            </a:r>
            <a:r>
              <a:rPr lang="en-US" dirty="0">
                <a:latin typeface="+mj-lt"/>
              </a:rPr>
              <a:t>is the process of transforming raw data into features that better represent the underlying problem to the predictive models, resulting in improved model accuracy on unseen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Feature engineering </a:t>
            </a:r>
            <a:r>
              <a:rPr lang="en-US" dirty="0">
                <a:latin typeface="+mj-lt"/>
              </a:rPr>
              <a:t>turn your inputs into things the algorithm can understand 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135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F16E-81E8-49A1-BE92-8B84FCC41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552" y="286605"/>
            <a:ext cx="8424936" cy="1450757"/>
          </a:xfrm>
        </p:spPr>
        <p:txBody>
          <a:bodyPr>
            <a:normAutofit/>
          </a:bodyPr>
          <a:lstStyle/>
          <a:p>
            <a:r>
              <a:rPr lang="en-US" sz="4000" dirty="0"/>
              <a:t>Types of Features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4D22-F338-402C-B29E-818A380F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+mj-lt"/>
            </a:endParaRPr>
          </a:p>
        </p:txBody>
      </p:sp>
      <p:pic>
        <p:nvPicPr>
          <p:cNvPr id="54274" name="Picture 2" descr="Image result for numeric and categorical features">
            <a:extLst>
              <a:ext uri="{FF2B5EF4-FFF2-40B4-BE49-F238E27FC236}">
                <a16:creationId xmlns:a16="http://schemas.microsoft.com/office/drawing/2014/main" id="{3242C44A-1668-408A-B5BB-EE916EF8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356" y="2060849"/>
            <a:ext cx="7663581" cy="427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AD235E-2391-4552-A0B1-118490C0BBA0}"/>
              </a:ext>
            </a:extLst>
          </p:cNvPr>
          <p:cNvSpPr txBox="1"/>
          <p:nvPr/>
        </p:nvSpPr>
        <p:spPr>
          <a:xfrm>
            <a:off x="4943872" y="2132857"/>
            <a:ext cx="223224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Features</a:t>
            </a:r>
            <a:endParaRPr lang="en-IN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989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6C78-BCBC-4BDA-B6B5-6AB22DE1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232" y="476672"/>
            <a:ext cx="8712968" cy="1450757"/>
          </a:xfrm>
        </p:spPr>
        <p:txBody>
          <a:bodyPr/>
          <a:lstStyle/>
          <a:p>
            <a:r>
              <a:rPr lang="en-US" sz="4000" dirty="0"/>
              <a:t>Features from observation</a:t>
            </a:r>
            <a:endParaRPr lang="en-IN" sz="4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6813BF-3FDA-4D7F-9F73-F3AAE0165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0514" y="1825625"/>
            <a:ext cx="59909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9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6C78-BCBC-4BDA-B6B5-6AB22DE12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0" y="286605"/>
            <a:ext cx="7709480" cy="1450757"/>
          </a:xfrm>
        </p:spPr>
        <p:txBody>
          <a:bodyPr/>
          <a:lstStyle/>
          <a:p>
            <a:r>
              <a:rPr lang="en-US" sz="4000" dirty="0"/>
              <a:t>Features from observation</a:t>
            </a:r>
            <a:endParaRPr lang="en-IN" sz="4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98BD0F-3AB6-4063-A63A-7E3650175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56" y="1916833"/>
            <a:ext cx="7544598" cy="342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0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Feature Engineering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3DABA-78D7-441C-9C56-9D596CB6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844824"/>
            <a:ext cx="85725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0" y="286605"/>
            <a:ext cx="8246690" cy="1450757"/>
          </a:xfrm>
        </p:spPr>
        <p:txBody>
          <a:bodyPr/>
          <a:lstStyle/>
          <a:p>
            <a:r>
              <a:rPr lang="en-US" sz="4000" dirty="0"/>
              <a:t>Features in iris data set</a:t>
            </a:r>
            <a:endParaRPr lang="en-IN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FF296-B06F-4AD8-86F8-E778497B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2180537"/>
            <a:ext cx="3318430" cy="3528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8534C7-2DA0-4934-BC4C-3A49E9BC7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975" y="3620697"/>
            <a:ext cx="4935821" cy="2088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E3FC8C-1B16-4DB4-AC07-BA90DF5A6814}"/>
              </a:ext>
            </a:extLst>
          </p:cNvPr>
          <p:cNvSpPr txBox="1"/>
          <p:nvPr/>
        </p:nvSpPr>
        <p:spPr>
          <a:xfrm>
            <a:off x="5519937" y="2590973"/>
            <a:ext cx="3999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Source : Kaggle</a:t>
            </a:r>
          </a:p>
          <a:p>
            <a:r>
              <a:rPr lang="en-IN" dirty="0">
                <a:latin typeface="+mj-lt"/>
              </a:rPr>
              <a:t>https://www.kaggle.com/uciml/iris</a:t>
            </a:r>
          </a:p>
        </p:txBody>
      </p:sp>
    </p:spTree>
    <p:extLst>
      <p:ext uri="{BB962C8B-B14F-4D97-AF65-F5344CB8AC3E}">
        <p14:creationId xmlns:p14="http://schemas.microsoft.com/office/powerpoint/2010/main" val="250822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766" y="1088285"/>
            <a:ext cx="8726828" cy="684625"/>
          </a:xfrm>
        </p:spPr>
        <p:txBody>
          <a:bodyPr>
            <a:normAutofit/>
          </a:bodyPr>
          <a:lstStyle/>
          <a:p>
            <a:r>
              <a:rPr lang="en-US" sz="3800" dirty="0"/>
              <a:t>Iris dataset in scikit-learn</a:t>
            </a:r>
            <a:endParaRPr lang="en-IN" sz="3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49183-C2C3-4180-AEE0-BBC210A1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767" y="3914051"/>
            <a:ext cx="5628133" cy="22512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71CBBA-3D9B-4061-A83B-361C02E0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260" y="3773193"/>
            <a:ext cx="2967096" cy="254573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1D7D2AA-F73B-47F2-9F73-268E8F000D2C}"/>
              </a:ext>
            </a:extLst>
          </p:cNvPr>
          <p:cNvSpPr/>
          <p:nvPr/>
        </p:nvSpPr>
        <p:spPr>
          <a:xfrm>
            <a:off x="1343472" y="1791339"/>
            <a:ext cx="9865096" cy="2123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scikit-learn</a:t>
            </a:r>
            <a:r>
              <a:rPr lang="en-US" sz="2400" dirty="0">
                <a:latin typeface="+mj-lt"/>
              </a:rPr>
              <a:t> – machine learning in python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Simple and efficient tools for data mining and data analysis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several machine learning algorithms</a:t>
            </a:r>
          </a:p>
          <a:p>
            <a:pPr>
              <a:lnSpc>
                <a:spcPct val="150000"/>
              </a:lnSpc>
            </a:pPr>
            <a:r>
              <a:rPr lang="en-US" i="1" dirty="0">
                <a:solidFill>
                  <a:srgbClr val="FFFFFF"/>
                </a:solidFill>
                <a:latin typeface="+mj-lt"/>
              </a:rPr>
              <a:t>Machine Learning in Python</a:t>
            </a:r>
          </a:p>
        </p:txBody>
      </p:sp>
    </p:spTree>
    <p:extLst>
      <p:ext uri="{BB962C8B-B14F-4D97-AF65-F5344CB8AC3E}">
        <p14:creationId xmlns:p14="http://schemas.microsoft.com/office/powerpoint/2010/main" val="2534941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Synthetic data is artificially generated data used for:</a:t>
            </a:r>
          </a:p>
          <a:p>
            <a:r>
              <a:rPr dirty="0"/>
              <a:t>- Testing algorithms</a:t>
            </a:r>
          </a:p>
          <a:p>
            <a:r>
              <a:rPr dirty="0"/>
              <a:t>- Learning concepts</a:t>
            </a:r>
          </a:p>
          <a:p>
            <a:r>
              <a:rPr dirty="0"/>
              <a:t>- Simulating real-world scenarios</a:t>
            </a:r>
          </a:p>
          <a:p>
            <a:r>
              <a:rPr dirty="0"/>
              <a:t>- Handling privacy issues</a:t>
            </a:r>
          </a:p>
          <a:p>
            <a:endParaRPr dirty="0"/>
          </a:p>
          <a:p>
            <a:r>
              <a:rPr dirty="0"/>
              <a:t>Key idea: Generate data with known properties.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D9CF0-C5EC-1BA8-1D13-5ACCBF62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8A307-86B5-EEAD-CB7D-9222AF7B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Missing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E2C1D-8A3C-9570-B867-30DBD7B32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2996952"/>
            <a:ext cx="5833864" cy="4351338"/>
          </a:xfrm>
        </p:spPr>
        <p:txBody>
          <a:bodyPr>
            <a:normAutofit/>
          </a:bodyPr>
          <a:lstStyle/>
          <a:p>
            <a:r>
              <a:rPr sz="2000" dirty="0"/>
              <a:t>Types of Missing Data:</a:t>
            </a:r>
            <a:endParaRPr lang="en-IN" sz="2000" dirty="0"/>
          </a:p>
          <a:p>
            <a:endParaRPr sz="2000" dirty="0"/>
          </a:p>
          <a:p>
            <a:r>
              <a:rPr sz="2000" dirty="0"/>
              <a:t>- MCAR – Missing Completely at Random</a:t>
            </a:r>
          </a:p>
          <a:p>
            <a:r>
              <a:rPr sz="2000" dirty="0"/>
              <a:t>- MAR – Missing At Random</a:t>
            </a:r>
          </a:p>
          <a:p>
            <a:r>
              <a:rPr sz="2000" dirty="0"/>
              <a:t>- MNAR – Missing Not At Random</a:t>
            </a:r>
          </a:p>
        </p:txBody>
      </p:sp>
      <p:pic>
        <p:nvPicPr>
          <p:cNvPr id="2052" name="Picture 4" descr="3 Types of Missing Values - by Avi Chawla">
            <a:extLst>
              <a:ext uri="{FF2B5EF4-FFF2-40B4-BE49-F238E27FC236}">
                <a16:creationId xmlns:a16="http://schemas.microsoft.com/office/drawing/2014/main" id="{ADACD2EB-58FC-930D-6E9A-FE91B6F14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956" y="1740347"/>
            <a:ext cx="4292677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33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Missing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2141537"/>
            <a:ext cx="43204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2000" dirty="0"/>
          </a:p>
          <a:p>
            <a:r>
              <a:rPr sz="2000" dirty="0"/>
              <a:t>Handling Techniques:</a:t>
            </a:r>
          </a:p>
          <a:p>
            <a:r>
              <a:rPr sz="2000" dirty="0"/>
              <a:t>- Remove rows/columns</a:t>
            </a:r>
          </a:p>
          <a:p>
            <a:r>
              <a:rPr sz="2000" dirty="0"/>
              <a:t>- Mean/Median/Mode imputation</a:t>
            </a:r>
          </a:p>
          <a:p>
            <a:r>
              <a:rPr sz="2000" dirty="0"/>
              <a:t>- Forward/Backward fill</a:t>
            </a:r>
          </a:p>
          <a:p>
            <a:r>
              <a:rPr sz="2000" dirty="0"/>
              <a:t>- Predict using ML models</a:t>
            </a:r>
          </a:p>
        </p:txBody>
      </p:sp>
      <p:pic>
        <p:nvPicPr>
          <p:cNvPr id="2050" name="Picture 2" descr="How to Handle Missing Data | Machine learning | Data science | by Mahesh  Jadhav | Medium">
            <a:extLst>
              <a:ext uri="{FF2B5EF4-FFF2-40B4-BE49-F238E27FC236}">
                <a16:creationId xmlns:a16="http://schemas.microsoft.com/office/drawing/2014/main" id="{DCDFDBD6-A55D-2AFC-8883-B970B17A2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20" y="1825625"/>
            <a:ext cx="7034236" cy="386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980728"/>
            <a:ext cx="10515600" cy="1325563"/>
          </a:xfrm>
        </p:spPr>
        <p:txBody>
          <a:bodyPr/>
          <a:lstStyle/>
          <a:p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456" y="2518920"/>
            <a:ext cx="10515600" cy="4351338"/>
          </a:xfrm>
        </p:spPr>
        <p:txBody>
          <a:bodyPr>
            <a:normAutofit/>
          </a:bodyPr>
          <a:lstStyle/>
          <a:p>
            <a:r>
              <a:rPr sz="1800" dirty="0"/>
              <a:t>Data cleaning fixes:</a:t>
            </a:r>
          </a:p>
          <a:p>
            <a:r>
              <a:rPr sz="1800" dirty="0"/>
              <a:t>- Duplicate data</a:t>
            </a:r>
          </a:p>
          <a:p>
            <a:r>
              <a:rPr sz="1800" dirty="0"/>
              <a:t>- Incorrect values</a:t>
            </a:r>
          </a:p>
          <a:p>
            <a:r>
              <a:rPr sz="1800" dirty="0"/>
              <a:t>- Outliers</a:t>
            </a:r>
          </a:p>
          <a:p>
            <a:r>
              <a:rPr sz="1800" dirty="0"/>
              <a:t>- Inconsistent formats</a:t>
            </a:r>
          </a:p>
          <a:p>
            <a:endParaRPr sz="1800" dirty="0"/>
          </a:p>
          <a:p>
            <a:r>
              <a:rPr sz="1800" dirty="0"/>
              <a:t>Goal: Improve data quality and consistency.</a:t>
            </a:r>
          </a:p>
        </p:txBody>
      </p:sp>
      <p:pic>
        <p:nvPicPr>
          <p:cNvPr id="1026" name="Picture 2" descr="Data Cleaning - GeeksforGeeks">
            <a:extLst>
              <a:ext uri="{FF2B5EF4-FFF2-40B4-BE49-F238E27FC236}">
                <a16:creationId xmlns:a16="http://schemas.microsoft.com/office/drawing/2014/main" id="{3504CC75-8284-255F-34A7-05DA650F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112" y="1988840"/>
            <a:ext cx="4543226" cy="363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and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Scaling is important for distance-based algorithms.</a:t>
            </a:r>
          </a:p>
          <a:p>
            <a:endParaRPr sz="2400" dirty="0"/>
          </a:p>
          <a:p>
            <a:r>
              <a:rPr sz="2400" dirty="0"/>
              <a:t>Methods:</a:t>
            </a:r>
          </a:p>
          <a:p>
            <a:r>
              <a:rPr sz="2400" dirty="0"/>
              <a:t>- Min-Max Normalization</a:t>
            </a:r>
          </a:p>
          <a:p>
            <a:r>
              <a:rPr sz="2400" dirty="0"/>
              <a:t>- Standardization (Z-score)</a:t>
            </a:r>
          </a:p>
          <a:p>
            <a:r>
              <a:rPr sz="2400" dirty="0"/>
              <a:t>- Robust Scaling</a:t>
            </a:r>
          </a:p>
          <a:p>
            <a:endParaRPr sz="2400" dirty="0"/>
          </a:p>
          <a:p>
            <a:r>
              <a:rPr sz="2400" dirty="0"/>
              <a:t>Ensures all features are on similar scale.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464" y="778733"/>
            <a:ext cx="7451623" cy="1025995"/>
          </a:xfrm>
        </p:spPr>
        <p:txBody>
          <a:bodyPr>
            <a:noAutofit/>
          </a:bodyPr>
          <a:lstStyle/>
          <a:p>
            <a:r>
              <a:rPr lang="en-US" sz="3200" dirty="0"/>
              <a:t>Preprocessing</a:t>
            </a:r>
            <a:endParaRPr lang="en-IN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F3B8B35-191E-4561-AF7D-68AE829374C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52274" y="1900680"/>
            <a:ext cx="8623108" cy="65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-142830" bIns="-19044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tr-TR" altLang="en-US" sz="100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</a:br>
            <a:endParaRPr lang="tr-TR" altLang="en-US" sz="100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en-US" sz="320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41D962-9C47-4A68-AF61-EA864FF77D20}"/>
                  </a:ext>
                </a:extLst>
              </p:cNvPr>
              <p:cNvSpPr txBox="1"/>
              <p:nvPr/>
            </p:nvSpPr>
            <p:spPr>
              <a:xfrm>
                <a:off x="1271464" y="2227723"/>
                <a:ext cx="9217024" cy="2367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+mj-lt"/>
                  </a:rPr>
                  <a:t>Scaling</a:t>
                </a:r>
              </a:p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altLang="en-US" dirty="0">
                    <a:solidFill>
                      <a:srgbClr val="000000"/>
                    </a:solidFill>
                    <a:latin typeface="+mj-lt"/>
                  </a:rPr>
                  <a:t>The </a:t>
                </a:r>
                <a:r>
                  <a:rPr lang="en-US" altLang="en-US" b="1" dirty="0">
                    <a:solidFill>
                      <a:srgbClr val="000000"/>
                    </a:solidFill>
                    <a:latin typeface="+mj-lt"/>
                  </a:rPr>
                  <a:t>MinMaxScaler</a:t>
                </a:r>
                <a:r>
                  <a:rPr lang="tr-TR" altLang="en-US" dirty="0">
                    <a:solidFill>
                      <a:srgbClr val="000000"/>
                    </a:solidFill>
                    <a:latin typeface="+mj-lt"/>
                  </a:rPr>
                  <a:t> is probably the most famous scaling algorithm, and follows the following formula for each feature:</a:t>
                </a:r>
                <a:endParaRPr lang="en-US" altLang="en-US" dirty="0">
                  <a:solidFill>
                    <a:srgbClr val="000000"/>
                  </a:solidFill>
                  <a:latin typeface="+mj-lt"/>
                </a:endParaRPr>
              </a:p>
              <a:p>
                <a:pPr marL="28575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tr-TR" altLang="en-US" sz="800" dirty="0">
                  <a:latin typeface="Lucida Console" panose="020B0609040504020204" pitchFamily="49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solidFill>
                      <a:srgbClr val="CE3785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b="0" i="1" dirty="0" smtClean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sz="2000" b="0" i="1" dirty="0" smtClean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2000" b="0" i="1" dirty="0" smtClean="0">
                        <a:solidFill>
                          <a:srgbClr val="CE378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altLang="en-US" sz="12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m:rPr>
                            <m:sty m:val="p"/>
                          </m:rP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)–</m:t>
                        </m:r>
                        <m:r>
                          <m:rPr>
                            <m:sty m:val="p"/>
                          </m:rP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tr-TR" altLang="en-US" sz="2000" i="1" dirty="0">
                            <a:solidFill>
                              <a:srgbClr val="CE378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en-US" sz="2000" dirty="0">
                            <a:solidFill>
                              <a:srgbClr val="000000"/>
                            </a:solidFill>
                            <a:latin typeface="MathJax_Main"/>
                          </a:rPr>
                          <m:t> </m:t>
                        </m:r>
                      </m:den>
                    </m:f>
                  </m:oMath>
                </a14:m>
                <a:endParaRPr lang="en-US" altLang="en-US" sz="2000" dirty="0">
                  <a:solidFill>
                    <a:srgbClr val="000000"/>
                  </a:solidFill>
                  <a:latin typeface="MathJax_Main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dirty="0">
                    <a:latin typeface="Lucida Console" panose="020B0609040504020204" pitchFamily="49" charset="0"/>
                  </a:rPr>
                  <a:t>								</a:t>
                </a:r>
              </a:p>
              <a:p>
                <a:endParaRPr lang="en-US" dirty="0"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41D962-9C47-4A68-AF61-EA864FF77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464" y="2227723"/>
                <a:ext cx="9217024" cy="2367764"/>
              </a:xfrm>
              <a:prstGeom prst="rect">
                <a:avLst/>
              </a:prstGeom>
              <a:blipFill>
                <a:blip r:embed="rId2"/>
                <a:stretch>
                  <a:fillRect l="-595" t="-10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317C2CD8-2D21-4AC8-8815-A389E5DC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321532"/>
            <a:ext cx="65" cy="110026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br>
              <a:rPr lang="tr-TR" altLang="en-US" dirty="0">
                <a:latin typeface="+mj-lt"/>
              </a:rPr>
            </a:br>
            <a:endParaRPr lang="tr-TR" alt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7FA389-33A0-4BF0-BD35-24AEC5E5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0" y="3284984"/>
            <a:ext cx="4843295" cy="29337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0211D3-6D7C-4E4D-8AE0-E1A0DD6ADA4A}"/>
              </a:ext>
            </a:extLst>
          </p:cNvPr>
          <p:cNvSpPr/>
          <p:nvPr/>
        </p:nvSpPr>
        <p:spPr>
          <a:xfrm>
            <a:off x="892665" y="4548526"/>
            <a:ext cx="46462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+mj-lt"/>
              </a:rPr>
              <a:t>Shrinks the range such that the range is now between 0 and 1 (or -1 to 1 if there are negative values).</a:t>
            </a:r>
            <a:endParaRPr lang="tr-TR" altLang="en-US" sz="800" dirty="0">
              <a:solidFill>
                <a:srgbClr val="C00000"/>
              </a:solidFill>
              <a:latin typeface="+mj-lt"/>
            </a:endParaRPr>
          </a:p>
          <a:p>
            <a:r>
              <a:rPr lang="en-US" b="1" dirty="0">
                <a:latin typeface="+mj-lt"/>
              </a:rPr>
              <a:t>				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446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Used to change distribution of data.</a:t>
            </a:r>
          </a:p>
          <a:p>
            <a:endParaRPr sz="1800" dirty="0"/>
          </a:p>
          <a:p>
            <a:r>
              <a:rPr sz="1800" dirty="0"/>
              <a:t>Common transformations:</a:t>
            </a:r>
          </a:p>
          <a:p>
            <a:r>
              <a:rPr sz="1800" dirty="0"/>
              <a:t>- Log transformation</a:t>
            </a:r>
          </a:p>
          <a:p>
            <a:r>
              <a:rPr sz="1800" dirty="0"/>
              <a:t>- Square root transformation</a:t>
            </a:r>
          </a:p>
          <a:p>
            <a:r>
              <a:rPr sz="1800" dirty="0"/>
              <a:t>- Exponential transformation</a:t>
            </a:r>
          </a:p>
          <a:p>
            <a:r>
              <a:rPr sz="1800" dirty="0"/>
              <a:t>- Box-Cox transformation</a:t>
            </a:r>
          </a:p>
          <a:p>
            <a:endParaRPr sz="1800" dirty="0"/>
          </a:p>
          <a:p>
            <a:r>
              <a:rPr sz="1800" dirty="0"/>
              <a:t>Used when data is skewed.</a:t>
            </a:r>
          </a:p>
        </p:txBody>
      </p:sp>
      <p:pic>
        <p:nvPicPr>
          <p:cNvPr id="1026" name="Picture 2" descr="How to Handle Skewed Data: A Guide for Data Scientists | by Subrat Mishra |  GoPenAI">
            <a:extLst>
              <a:ext uri="{FF2B5EF4-FFF2-40B4-BE49-F238E27FC236}">
                <a16:creationId xmlns:a16="http://schemas.microsoft.com/office/drawing/2014/main" id="{FD78DD52-3539-2508-58A1-ACA2A30729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900"/>
          <a:stretch>
            <a:fillRect/>
          </a:stretch>
        </p:blipFill>
        <p:spPr bwMode="auto">
          <a:xfrm>
            <a:off x="5663952" y="1825625"/>
            <a:ext cx="4572000" cy="35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Discretization and Binning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Converts continuous data into categories.</a:t>
            </a:r>
          </a:p>
          <a:p>
            <a:endParaRPr sz="1800" dirty="0"/>
          </a:p>
          <a:p>
            <a:r>
              <a:rPr sz="1800" dirty="0"/>
              <a:t>Types:</a:t>
            </a:r>
          </a:p>
          <a:p>
            <a:r>
              <a:rPr sz="1800" dirty="0"/>
              <a:t>- Equal-width binning</a:t>
            </a:r>
          </a:p>
          <a:p>
            <a:r>
              <a:rPr sz="1800" dirty="0"/>
              <a:t>- Equal-frequency binning</a:t>
            </a:r>
          </a:p>
          <a:p>
            <a:r>
              <a:rPr sz="1800" dirty="0"/>
              <a:t>- K-means binning</a:t>
            </a:r>
          </a:p>
          <a:p>
            <a:endParaRPr sz="1800" dirty="0"/>
          </a:p>
          <a:p>
            <a:r>
              <a:rPr sz="1800" dirty="0"/>
              <a:t>Useful for decision trees and noise reduction.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99304-C403-DAA3-E8F4-0CA72DFD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21475"/>
            <a:ext cx="4910907" cy="2466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7007DC-983B-FFAD-B042-85C701B4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580"/>
          <a:stretch>
            <a:fillRect/>
          </a:stretch>
        </p:blipFill>
        <p:spPr>
          <a:xfrm>
            <a:off x="5663952" y="4110087"/>
            <a:ext cx="5791173" cy="20668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Interaction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sz="1600" dirty="0"/>
                  <a:t>Used to model non-linear relationships.</a:t>
                </a:r>
              </a:p>
              <a:p>
                <a:endParaRPr sz="1600" dirty="0"/>
              </a:p>
              <a:p>
                <a:r>
                  <a:rPr sz="1600" dirty="0"/>
                  <a:t>Create new features:</a:t>
                </a:r>
              </a:p>
              <a:p>
                <a:r>
                  <a:rPr sz="1600" dirty="0"/>
                  <a:t>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1600" i="1" dirty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sz="1600" dirty="0"/>
              </a:p>
              <a:p>
                <a:r>
                  <a:rPr sz="1600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600" i="1" dirty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I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16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sz="1600" dirty="0"/>
              </a:p>
              <a:p>
                <a:r>
                  <a:rPr sz="1600" dirty="0"/>
                  <a:t>Helps linear models learn non-linear patterns.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8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 descr="Demystifying Polynomial Regression: Understanding and Implementation | by  Viswa | Medium">
            <a:extLst>
              <a:ext uri="{FF2B5EF4-FFF2-40B4-BE49-F238E27FC236}">
                <a16:creationId xmlns:a16="http://schemas.microsoft.com/office/drawing/2014/main" id="{D2455020-D17C-2FD0-8D14-0E190C7F2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513" y="1497532"/>
            <a:ext cx="511492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olynomial Features: A Comprehensive Guide (From Basics to Advanced) | by  Adnan Mazraeh | Medium">
            <a:extLst>
              <a:ext uri="{FF2B5EF4-FFF2-40B4-BE49-F238E27FC236}">
                <a16:creationId xmlns:a16="http://schemas.microsoft.com/office/drawing/2014/main" id="{D14AD6BC-1D04-F82A-A5D3-363B11348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4456593"/>
            <a:ext cx="6821465" cy="18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Convert categorical data into numerical form.</a:t>
            </a:r>
          </a:p>
          <a:p>
            <a:endParaRPr sz="1800" dirty="0"/>
          </a:p>
          <a:p>
            <a:r>
              <a:rPr sz="1800" dirty="0"/>
              <a:t>Methods:</a:t>
            </a:r>
          </a:p>
          <a:p>
            <a:r>
              <a:rPr sz="1800" dirty="0"/>
              <a:t>- Label Encoding</a:t>
            </a:r>
          </a:p>
          <a:p>
            <a:r>
              <a:rPr sz="1800" dirty="0"/>
              <a:t>- One-Hot Encoding</a:t>
            </a:r>
          </a:p>
          <a:p>
            <a:r>
              <a:rPr sz="1800" dirty="0"/>
              <a:t>- Ordinal Encoding</a:t>
            </a:r>
          </a:p>
          <a:p>
            <a:r>
              <a:rPr sz="1800" dirty="0"/>
              <a:t>- Target Encoding</a:t>
            </a:r>
          </a:p>
          <a:p>
            <a:r>
              <a:rPr sz="1800" dirty="0"/>
              <a:t>- Frequency Encoding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C64430A-8831-A7B7-DA57-C76A8880D7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" t="9051" r="3432" b="2750"/>
          <a:stretch>
            <a:fillRect/>
          </a:stretch>
        </p:blipFill>
        <p:spPr bwMode="auto">
          <a:xfrm>
            <a:off x="6600056" y="548680"/>
            <a:ext cx="5328593" cy="604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7" y="764705"/>
            <a:ext cx="7451623" cy="1025995"/>
          </a:xfrm>
        </p:spPr>
        <p:txBody>
          <a:bodyPr>
            <a:noAutofit/>
          </a:bodyPr>
          <a:lstStyle/>
          <a:p>
            <a:r>
              <a:rPr lang="en-US" sz="3200" dirty="0"/>
              <a:t>Preprocessing</a:t>
            </a:r>
            <a:endParaRPr lang="en-IN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F3B8B35-191E-4561-AF7D-68AE829374C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52274" y="1900680"/>
            <a:ext cx="8623108" cy="65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-142830" bIns="-19044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tr-TR" altLang="en-US" sz="100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</a:br>
            <a:endParaRPr lang="tr-TR" altLang="en-US" sz="100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en-US" sz="320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1D962-9C47-4A68-AF61-EA864FF77D20}"/>
              </a:ext>
            </a:extLst>
          </p:cNvPr>
          <p:cNvSpPr txBox="1"/>
          <p:nvPr/>
        </p:nvSpPr>
        <p:spPr>
          <a:xfrm>
            <a:off x="2224967" y="1945990"/>
            <a:ext cx="756084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Label Encoding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+mj-lt"/>
              </a:rPr>
              <a:t>Used to transform non-numerical labels, that is, categorical values, to numerical labels.</a:t>
            </a:r>
            <a:endParaRPr lang="tr-TR" altLang="en-US" sz="800" dirty="0">
              <a:latin typeface="+mj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CE3785"/>
                </a:solidFill>
                <a:latin typeface="+mj-lt"/>
              </a:rPr>
              <a:t>               </a:t>
            </a:r>
            <a:endParaRPr lang="en-US" altLang="en-US" sz="2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17C2CD8-2D21-4AC8-8815-A389E5DC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321532"/>
            <a:ext cx="65" cy="110026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4264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br>
              <a:rPr lang="tr-TR" altLang="en-US" dirty="0">
                <a:latin typeface="+mj-lt"/>
              </a:rPr>
            </a:br>
            <a:endParaRPr lang="tr-TR" altLang="en-US" dirty="0"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8B3909-784A-4144-ACA3-BE5AA4906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8" y="3296915"/>
            <a:ext cx="7708396" cy="242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59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740" y="1090958"/>
            <a:ext cx="8726828" cy="684625"/>
          </a:xfrm>
        </p:spPr>
        <p:txBody>
          <a:bodyPr>
            <a:normAutofit/>
          </a:bodyPr>
          <a:lstStyle/>
          <a:p>
            <a:r>
              <a:rPr lang="en-US" sz="4000" dirty="0"/>
              <a:t>Dimensionality Reduction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7D2AA-F73B-47F2-9F73-268E8F000D2C}"/>
              </a:ext>
            </a:extLst>
          </p:cNvPr>
          <p:cNvSpPr/>
          <p:nvPr/>
        </p:nvSpPr>
        <p:spPr>
          <a:xfrm>
            <a:off x="1206536" y="1904438"/>
            <a:ext cx="100740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Dimensionality </a:t>
            </a:r>
            <a:r>
              <a:rPr lang="en-US" sz="2400" b="1" spc="-50" dirty="0">
                <a:latin typeface="+mj-lt"/>
                <a:ea typeface="+mj-ea"/>
                <a:cs typeface="+mj-cs"/>
              </a:rPr>
              <a:t>reduction </a:t>
            </a:r>
            <a:r>
              <a:rPr lang="en-US" sz="2400" spc="-50" dirty="0">
                <a:latin typeface="+mj-lt"/>
                <a:ea typeface="+mj-ea"/>
                <a:cs typeface="+mj-cs"/>
              </a:rPr>
              <a:t>- Reducing the number of random variables to consider</a:t>
            </a:r>
            <a:r>
              <a:rPr lang="en-US" sz="2400" dirty="0">
                <a:latin typeface="+mj-lt"/>
              </a:rPr>
              <a:t>.</a:t>
            </a:r>
            <a:r>
              <a:rPr lang="en-US" i="1" dirty="0">
                <a:solidFill>
                  <a:srgbClr val="FFFFFF"/>
                </a:solidFill>
                <a:latin typeface="+mj-lt"/>
              </a:rPr>
              <a:t> Learning in Python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C64BA-C21E-4CC3-938B-D2E2BC627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720" y="2864290"/>
            <a:ext cx="4713838" cy="349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94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202" y="1090958"/>
            <a:ext cx="8950366" cy="684625"/>
          </a:xfrm>
        </p:spPr>
        <p:txBody>
          <a:bodyPr>
            <a:normAutofit/>
          </a:bodyPr>
          <a:lstStyle/>
          <a:p>
            <a:r>
              <a:rPr lang="en-US" sz="4000" dirty="0"/>
              <a:t>Dimensionality Reduction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7D2AA-F73B-47F2-9F73-268E8F000D2C}"/>
              </a:ext>
            </a:extLst>
          </p:cNvPr>
          <p:cNvSpPr/>
          <p:nvPr/>
        </p:nvSpPr>
        <p:spPr>
          <a:xfrm>
            <a:off x="1199456" y="2063867"/>
            <a:ext cx="9793088" cy="369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50" dirty="0">
                <a:latin typeface="+mj-lt"/>
                <a:ea typeface="+mj-ea"/>
                <a:cs typeface="+mj-cs"/>
              </a:rPr>
              <a:t>‘</a:t>
            </a:r>
            <a:r>
              <a:rPr lang="en-US" sz="2000" b="1" spc="-50" dirty="0">
                <a:latin typeface="+mj-lt"/>
                <a:ea typeface="+mj-ea"/>
                <a:cs typeface="+mj-cs"/>
              </a:rPr>
              <a:t>Dimensionality</a:t>
            </a:r>
            <a:r>
              <a:rPr lang="en-US" sz="2000" spc="-50" dirty="0">
                <a:latin typeface="+mj-lt"/>
                <a:ea typeface="+mj-ea"/>
                <a:cs typeface="+mj-cs"/>
              </a:rPr>
              <a:t>’ - simply refers to the number of features (i.e. input variables) in your dataset.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50" dirty="0">
                <a:latin typeface="+mj-lt"/>
                <a:ea typeface="+mj-ea"/>
                <a:cs typeface="+mj-cs"/>
              </a:rPr>
              <a:t>When the number of features is very large relative to the number of observations in your dataset, certain algorithms struggle to train effective models. 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50" dirty="0">
                <a:latin typeface="+mj-lt"/>
                <a:ea typeface="+mj-ea"/>
                <a:cs typeface="+mj-cs"/>
              </a:rPr>
              <a:t>This is called the “Curse of Dimensionality,”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50" dirty="0">
                <a:latin typeface="+mj-lt"/>
                <a:ea typeface="+mj-ea"/>
                <a:cs typeface="+mj-cs"/>
              </a:rPr>
              <a:t>It’s especially relevant for </a:t>
            </a:r>
            <a:r>
              <a:rPr lang="en-US" sz="2000" spc="-50" dirty="0"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clustering</a:t>
            </a:r>
            <a:r>
              <a:rPr lang="en-US" sz="2000" spc="-50" dirty="0">
                <a:latin typeface="+mj-lt"/>
                <a:ea typeface="+mj-ea"/>
                <a:cs typeface="+mj-cs"/>
              </a:rPr>
              <a:t> algorithms that rely on distance calculations.</a:t>
            </a:r>
          </a:p>
        </p:txBody>
      </p:sp>
    </p:spTree>
    <p:extLst>
      <p:ext uri="{BB962C8B-B14F-4D97-AF65-F5344CB8AC3E}">
        <p14:creationId xmlns:p14="http://schemas.microsoft.com/office/powerpoint/2010/main" val="3445015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1196752"/>
            <a:ext cx="8027688" cy="684625"/>
          </a:xfrm>
        </p:spPr>
        <p:txBody>
          <a:bodyPr>
            <a:noAutofit/>
          </a:bodyPr>
          <a:lstStyle/>
          <a:p>
            <a:r>
              <a:rPr lang="en-IN" sz="3200" dirty="0"/>
              <a:t>Components of </a:t>
            </a:r>
            <a:r>
              <a:rPr lang="en-US" sz="3200" dirty="0"/>
              <a:t>Dimensionality Reduction 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CD394-75AD-45E0-B5DD-67A44B6D6C23}"/>
              </a:ext>
            </a:extLst>
          </p:cNvPr>
          <p:cNvSpPr txBox="1"/>
          <p:nvPr/>
        </p:nvSpPr>
        <p:spPr>
          <a:xfrm>
            <a:off x="1775520" y="2398736"/>
            <a:ext cx="82089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</a:pPr>
            <a:r>
              <a:rPr lang="en-US" sz="24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Feature selection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: you select a subset of the original feature set.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</a:pPr>
            <a:endParaRPr lang="en-US" sz="2400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</a:pPr>
            <a:r>
              <a:rPr lang="en-US" sz="24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Feature extraction</a:t>
            </a:r>
            <a:r>
              <a:rPr lang="en-US" sz="24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: you build a new set of features from the original feature set.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7327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4793-633B-B464-D73D-ECF2399C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71B5-AADF-4C6C-7564-3CCCDB7B8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1196752"/>
            <a:ext cx="8027688" cy="684625"/>
          </a:xfrm>
        </p:spPr>
        <p:txBody>
          <a:bodyPr>
            <a:noAutofit/>
          </a:bodyPr>
          <a:lstStyle/>
          <a:p>
            <a:r>
              <a:rPr lang="en-IN" sz="3200" dirty="0"/>
              <a:t>Feature Selection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E2C9E-079B-2CD1-791B-5D4F1C53CE45}"/>
              </a:ext>
            </a:extLst>
          </p:cNvPr>
          <p:cNvSpPr txBox="1"/>
          <p:nvPr/>
        </p:nvSpPr>
        <p:spPr>
          <a:xfrm>
            <a:off x="1775520" y="1772816"/>
            <a:ext cx="6096000" cy="444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1️⃣ Filter Methods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statistical measures</a:t>
            </a:r>
            <a:r>
              <a:rPr lang="en-US" dirty="0"/>
              <a:t> to rank and select features.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Independent of any machine learning model.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Examples:</a:t>
            </a:r>
            <a:endParaRPr lang="en-US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Correlation coefficient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Chi-squared test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ANOVA F-test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Mutual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344257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9231-B639-4161-A620-387C3866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0022-BB90-6E85-30E5-F5FE7CAB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520" y="1196752"/>
            <a:ext cx="8027688" cy="684625"/>
          </a:xfrm>
        </p:spPr>
        <p:txBody>
          <a:bodyPr>
            <a:noAutofit/>
          </a:bodyPr>
          <a:lstStyle/>
          <a:p>
            <a:r>
              <a:rPr lang="en-IN" sz="3200" dirty="0"/>
              <a:t>Feature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019BF-890F-8FD8-30DC-126960E8664C}"/>
              </a:ext>
            </a:extLst>
          </p:cNvPr>
          <p:cNvSpPr txBox="1"/>
          <p:nvPr/>
        </p:nvSpPr>
        <p:spPr>
          <a:xfrm>
            <a:off x="1847528" y="1881377"/>
            <a:ext cx="6096000" cy="444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2️⃣ Wrapper Methods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predictive models</a:t>
            </a:r>
            <a:r>
              <a:rPr lang="en-US" dirty="0"/>
              <a:t> to evaluate feature subsets.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Computationally expensive but can provide better performance.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Examples:</a:t>
            </a:r>
            <a:endParaRPr lang="en-US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Forward Selection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Backward Elimination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Recursive Feature Elimination (RFE)</a:t>
            </a:r>
          </a:p>
        </p:txBody>
      </p:sp>
    </p:spTree>
    <p:extLst>
      <p:ext uri="{BB962C8B-B14F-4D97-AF65-F5344CB8AC3E}">
        <p14:creationId xmlns:p14="http://schemas.microsoft.com/office/powerpoint/2010/main" val="1308404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DAD56-93AD-FDA3-E989-FB9CE9FB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C22F-BBF2-A327-7613-D4238007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836712"/>
            <a:ext cx="8027688" cy="684625"/>
          </a:xfrm>
        </p:spPr>
        <p:txBody>
          <a:bodyPr>
            <a:noAutofit/>
          </a:bodyPr>
          <a:lstStyle/>
          <a:p>
            <a:r>
              <a:rPr lang="en-IN" sz="3200" dirty="0"/>
              <a:t>Feature 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86D1E1-EB68-DF00-9A56-40D8BC9E06A4}"/>
              </a:ext>
            </a:extLst>
          </p:cNvPr>
          <p:cNvSpPr txBox="1"/>
          <p:nvPr/>
        </p:nvSpPr>
        <p:spPr>
          <a:xfrm>
            <a:off x="1415480" y="1612068"/>
            <a:ext cx="6096000" cy="4443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3️⃣ Embedded Methods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Feature selection is performed during model training.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Less computationally expensive than wrappers, model-aware.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Examples:</a:t>
            </a:r>
            <a:endParaRPr lang="en-US" dirty="0"/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Lasso (L1 Regularization)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Decision Tree feature importance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Elastic Net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DAF982-FE03-BD55-63BD-085639A42CC7}"/>
              </a:ext>
            </a:extLst>
          </p:cNvPr>
          <p:cNvSpPr txBox="1"/>
          <p:nvPr/>
        </p:nvSpPr>
        <p:spPr>
          <a:xfrm>
            <a:off x="6096000" y="3717032"/>
            <a:ext cx="6096000" cy="27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4️⃣ Hybrid Methods Combine filter and wrapper methods to leverage the advantages of both.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Example workflow: Apply filter to reduce features, then wrapper for fine selection.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5257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7" y="764705"/>
            <a:ext cx="7451623" cy="1025995"/>
          </a:xfrm>
        </p:spPr>
        <p:txBody>
          <a:bodyPr>
            <a:noAutofit/>
          </a:bodyPr>
          <a:lstStyle/>
          <a:p>
            <a:r>
              <a:rPr lang="en-US" sz="3200" dirty="0"/>
              <a:t>Feature Extraction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CD394-75AD-45E0-B5DD-67A44B6D6C23}"/>
              </a:ext>
            </a:extLst>
          </p:cNvPr>
          <p:cNvSpPr txBox="1"/>
          <p:nvPr/>
        </p:nvSpPr>
        <p:spPr>
          <a:xfrm>
            <a:off x="6744072" y="2449711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IN" dirty="0">
                <a:latin typeface="+mj-lt"/>
              </a:rPr>
              <a:t>Linear Discriminant Analysis (LDA)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BE72D0-2E6B-4DF9-91FE-CBD7AD28B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924944"/>
            <a:ext cx="3247036" cy="19150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424D0E-E06D-4567-BE9C-3451CF8CA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30" y="3072908"/>
            <a:ext cx="4505658" cy="22845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BEAFF-5CA6-0BA6-3AE5-C9633FC3762A}"/>
              </a:ext>
            </a:extLst>
          </p:cNvPr>
          <p:cNvSpPr txBox="1"/>
          <p:nvPr/>
        </p:nvSpPr>
        <p:spPr>
          <a:xfrm>
            <a:off x="582230" y="49881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IN" sz="1800" dirty="0">
                <a:latin typeface="+mj-lt"/>
              </a:rPr>
              <a:t>Principal Component Analysis (PCA)</a:t>
            </a:r>
          </a:p>
        </p:txBody>
      </p:sp>
    </p:spTree>
    <p:extLst>
      <p:ext uri="{BB962C8B-B14F-4D97-AF65-F5344CB8AC3E}">
        <p14:creationId xmlns:p14="http://schemas.microsoft.com/office/powerpoint/2010/main" val="4233673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7" y="764705"/>
            <a:ext cx="7451623" cy="1025995"/>
          </a:xfrm>
        </p:spPr>
        <p:txBody>
          <a:bodyPr>
            <a:noAutofit/>
          </a:bodyPr>
          <a:lstStyle/>
          <a:p>
            <a:r>
              <a:rPr lang="en-US" sz="3200" dirty="0"/>
              <a:t>Feature Reduction Iris Dataset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034AA-8F8B-4D8E-8F74-A510741B4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322" y="1903340"/>
            <a:ext cx="7974150" cy="43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347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AAFF-CECF-46FA-B5D2-1B2F0E7E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7" y="764705"/>
            <a:ext cx="7451623" cy="1025995"/>
          </a:xfrm>
        </p:spPr>
        <p:txBody>
          <a:bodyPr>
            <a:noAutofit/>
          </a:bodyPr>
          <a:lstStyle/>
          <a:p>
            <a:r>
              <a:rPr lang="en-US" sz="3200" dirty="0"/>
              <a:t>Feature Reduction Iris Dataset</a:t>
            </a:r>
            <a:endParaRPr lang="en-IN" sz="32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F3B8B35-191E-4561-AF7D-68AE829374C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52274" y="1900680"/>
            <a:ext cx="8623108" cy="654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-142830" bIns="-19044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tr-TR" altLang="en-US" sz="100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</a:br>
            <a:endParaRPr lang="tr-TR" altLang="en-US" sz="100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en-US" sz="3200">
              <a:latin typeface="+mj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D59B0C4-C36F-48A6-9D86-2A4EA8837C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28048" y="1751305"/>
            <a:ext cx="3384377" cy="4360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PCA OUTPUT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[[-2.68412563 0.31939725] [-2.71414169 -0.17700123] [-2.88899057 -0.14494943] [-2.74534286 -0.31829898] [-2.72871654 0.32675451] [-2.28085963 0.74133045] [-2.82053775 -0.08946138] [-2.62614497 0.16338496] [-2.88638273 -0.57831175] </a:t>
            </a:r>
            <a:r>
              <a:rPr lang="en-US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-</a:t>
            </a:r>
            <a:r>
              <a:rPr lang="tr-TR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 [ 1.16932634 -0.16499026] [ 2.10761114 0.37228787] [ 2.31415471 0.18365128] [ 1.9222678 0.40920347] [ 1.41523588 -0.57491635] [ 2.56301338 0.2778626 ] [ 2.41874618 0.3047982 ] [ 1.94410979 0.1875323 ] [ 1.52716661 -0.37531698] [ 1.76434572 0.07885885] [ 1.90094161 0.11662796] [ 1.39018886 -0.28266094]]</a:t>
            </a:r>
            <a:endParaRPr lang="tr-TR" altLang="en-US" sz="3200" dirty="0">
              <a:latin typeface="+mj-l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DE871AC-7F1E-4FFC-993F-3C8500EF6D6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775520" y="1900680"/>
            <a:ext cx="3384376" cy="43858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LDA OUTPUT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[[-8.06179978e+00 3.00420621e-01] [-7.12868772e+00 -7.86660426e-01] [-7.48982797e+00 -2.65384488e-01] [-6.81320057e+00 -6.70631068e-01] [-8.13230933e+00 5.14462530e-01] [-7.70194674e+00 1.46172097e+00] [-7.21261762e+00 3.55836209e-01] </a:t>
            </a:r>
            <a:r>
              <a:rPr lang="en-US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------------------------------------------------------------------------------------------------------------------------------------------------------------------------------------------------------------------------------------------------</a:t>
            </a:r>
            <a:r>
              <a:rPr lang="tr-TR" altLang="en-US" sz="1000" dirty="0">
                <a:solidFill>
                  <a:srgbClr val="000000"/>
                </a:solidFill>
                <a:latin typeface="+mj-lt"/>
                <a:cs typeface="Courier New" panose="02070309020205020404" pitchFamily="49" charset="0"/>
              </a:rPr>
              <a:t>[ 9.97610366e-01 -4.90530602e-01] [ 3.83525931e+00 -1.40595806e+00] [ 2.25741249e+00 -1.42679423e+00] [ 1.25571326e+00 -5.46424197e-01] [ 1.43755762e+00 -1.34424979e-01] [ 2.45906137e+00 -9.35277280e-01] [ 3.51848495e+00 1.60588866e-01] [ 2.58979871e+00 -1.74611728e-01] [-3.07487884e-01 -1.31887146e+00] [ 4.96774090e+00 8.21140550e-01] [ 5.88614539e+00 2.34509051e+00] [ 4.68315426e+00 3.32033811e-01]]</a:t>
            </a:r>
            <a:r>
              <a:rPr lang="tr-TR" altLang="en-US" sz="1000" dirty="0">
                <a:latin typeface="+mj-lt"/>
              </a:rPr>
              <a:t> </a:t>
            </a:r>
            <a:endParaRPr lang="en-US" altLang="en-US" sz="1000" b="1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solidFill>
                <a:srgbClr val="000000"/>
              </a:solidFill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252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Data Collection</a:t>
            </a:r>
          </a:p>
          <a:p>
            <a:r>
              <a:t>2. Data Cleaning</a:t>
            </a:r>
          </a:p>
          <a:p>
            <a:r>
              <a:t>3. Missing Value Handling</a:t>
            </a:r>
          </a:p>
          <a:p>
            <a:r>
              <a:t>4. Encoding</a:t>
            </a:r>
          </a:p>
          <a:p>
            <a:r>
              <a:t>5. Scaling</a:t>
            </a:r>
          </a:p>
          <a:p>
            <a:r>
              <a:t>6. Transformation</a:t>
            </a:r>
          </a:p>
          <a:p>
            <a:r>
              <a:t>7. Feature Engineering</a:t>
            </a:r>
          </a:p>
          <a:p>
            <a:r>
              <a:t>8. Feature Reduction</a:t>
            </a:r>
          </a:p>
          <a:p>
            <a:r>
              <a:t>9. Train Model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FED51-E275-4395-AE1C-32F82604D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968" y="841122"/>
            <a:ext cx="4032448" cy="846192"/>
          </a:xfrm>
        </p:spPr>
        <p:txBody>
          <a:bodyPr/>
          <a:lstStyle/>
          <a:p>
            <a:r>
              <a:rPr lang="en-US" altLang="en-US" dirty="0">
                <a:latin typeface="Lucida Console" panose="020B0609040504020204" pitchFamily="49" charset="0"/>
              </a:rPr>
              <a:t>Thank You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45F4F1-902A-4AE9-B02F-475815D9B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276872"/>
            <a:ext cx="4951088" cy="32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18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5114</TotalTime>
  <Words>1094</Words>
  <Application>Microsoft Office PowerPoint</Application>
  <PresentationFormat>Widescreen</PresentationFormat>
  <Paragraphs>210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Cambria Math</vt:lpstr>
      <vt:lpstr>Comic Sans MS</vt:lpstr>
      <vt:lpstr>Lucida Console</vt:lpstr>
      <vt:lpstr>MathJax_Main</vt:lpstr>
      <vt:lpstr>Wingdings</vt:lpstr>
      <vt:lpstr>Office Theme</vt:lpstr>
      <vt:lpstr>Feature Engineering and Preprocessing  Dr. Shailesh S     shaileshsivan@gmail.com</vt:lpstr>
      <vt:lpstr>Overview</vt:lpstr>
      <vt:lpstr>What Does Machine Learning do?</vt:lpstr>
      <vt:lpstr>Some Facts</vt:lpstr>
      <vt:lpstr>What is a Feature in ML</vt:lpstr>
      <vt:lpstr>Types of Features</vt:lpstr>
      <vt:lpstr>Features from observation</vt:lpstr>
      <vt:lpstr>Features from observation</vt:lpstr>
      <vt:lpstr>Feature Engineering</vt:lpstr>
      <vt:lpstr>Features in iris data set</vt:lpstr>
      <vt:lpstr>Iris dataset in scikit-learn</vt:lpstr>
      <vt:lpstr>Synthetic Data</vt:lpstr>
      <vt:lpstr>Missing Data Handling</vt:lpstr>
      <vt:lpstr>Missing Data Handling</vt:lpstr>
      <vt:lpstr>Data Cleaning</vt:lpstr>
      <vt:lpstr>Normalization and Scaling</vt:lpstr>
      <vt:lpstr>Preprocessing</vt:lpstr>
      <vt:lpstr>Data Transformation</vt:lpstr>
      <vt:lpstr>Discretization and Binning</vt:lpstr>
      <vt:lpstr>Polynomial Interaction Features</vt:lpstr>
      <vt:lpstr>Encoding Techniques</vt:lpstr>
      <vt:lpstr>Preprocessing</vt:lpstr>
      <vt:lpstr>Dimensionality Reduction</vt:lpstr>
      <vt:lpstr>Dimensionality Reduction</vt:lpstr>
      <vt:lpstr>Components of Dimensionality Reduction </vt:lpstr>
      <vt:lpstr>Feature Selection</vt:lpstr>
      <vt:lpstr>Feature Selection</vt:lpstr>
      <vt:lpstr>Feature Selection</vt:lpstr>
      <vt:lpstr>Feature Extraction</vt:lpstr>
      <vt:lpstr>Feature Reduction Iris Dataset</vt:lpstr>
      <vt:lpstr>Feature Reduction Iris Dataset</vt:lpstr>
      <vt:lpstr>Preprocessing Pipeline</vt:lpstr>
      <vt:lpstr>Thank You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Shailesh Sivan</cp:lastModifiedBy>
  <cp:revision>241</cp:revision>
  <cp:lastPrinted>2026-03-30T14:04:42Z</cp:lastPrinted>
  <dcterms:created xsi:type="dcterms:W3CDTF">2005-01-24T14:46:28Z</dcterms:created>
  <dcterms:modified xsi:type="dcterms:W3CDTF">2026-03-30T14:04:48Z</dcterms:modified>
</cp:coreProperties>
</file>